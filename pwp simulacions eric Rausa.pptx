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5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74A5B8-A633-433D-9855-333811AB27BC}" v="41" dt="2026-07-02T09:23:42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FB6FD-8182-40A8-B8A8-40B9495F7CCB}" type="datetimeFigureOut">
              <a:rPr lang="es-ES" smtClean="0"/>
              <a:t>02/07/2026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09AD5-C0C5-472E-9B04-8E0032DD4F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7301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09AD5-C0C5-472E-9B04-8E0032DD4F8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7471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8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20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7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77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35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1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37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6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92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4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3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830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570CAC-3C27-EC4A-BAE4-44648417F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1398277"/>
            <a:ext cx="4657032" cy="1914833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ca-ES" sz="4400" noProof="0" dirty="0"/>
              <a:t>Termodinàmica de la </a:t>
            </a:r>
            <a:r>
              <a:rPr lang="ca-ES" sz="4400" noProof="0" dirty="0" err="1"/>
              <a:t>quimiocina</a:t>
            </a:r>
            <a:r>
              <a:rPr lang="ca-ES" sz="4400" noProof="0" dirty="0"/>
              <a:t> SDF-1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B2A4A5-7142-7518-7B78-D248748A8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8" y="4214945"/>
            <a:ext cx="3566453" cy="1741871"/>
          </a:xfrm>
        </p:spPr>
        <p:txBody>
          <a:bodyPr anchor="t">
            <a:normAutofit/>
          </a:bodyPr>
          <a:lstStyle/>
          <a:p>
            <a:r>
              <a:rPr lang="ca-ES" noProof="0" dirty="0"/>
              <a:t>Eric Rausa de Godos</a:t>
            </a:r>
          </a:p>
          <a:p>
            <a:r>
              <a:rPr lang="ca-ES" noProof="0" dirty="0"/>
              <a:t>NIU 1620494</a:t>
            </a:r>
          </a:p>
        </p:txBody>
      </p:sp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a-ES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7608C30-21FE-4289-D490-60D8B9A8B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2768" y="1000768"/>
            <a:ext cx="5220275" cy="4956048"/>
          </a:xfrm>
          <a:prstGeom prst="rect">
            <a:avLst/>
          </a:prstGeom>
        </p:spPr>
      </p:pic>
      <p:sp>
        <p:nvSpPr>
          <p:cNvPr id="8" name="Freeform: Shape 12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a-ES" noProof="0" dirty="0"/>
          </a:p>
        </p:txBody>
      </p:sp>
      <p:grpSp>
        <p:nvGrpSpPr>
          <p:cNvPr id="5" name="Google Shape;95;p2">
            <a:extLst>
              <a:ext uri="{FF2B5EF4-FFF2-40B4-BE49-F238E27FC236}">
                <a16:creationId xmlns:a16="http://schemas.microsoft.com/office/drawing/2014/main" id="{2B8605B2-D943-959B-1441-517677F1B57E}"/>
              </a:ext>
            </a:extLst>
          </p:cNvPr>
          <p:cNvGrpSpPr/>
          <p:nvPr/>
        </p:nvGrpSpPr>
        <p:grpSpPr>
          <a:xfrm flipH="1">
            <a:off x="9676747" y="-4155"/>
            <a:ext cx="2514948" cy="2174333"/>
            <a:chOff x="-305" y="-4155"/>
            <a:chExt cx="2514948" cy="2174333"/>
          </a:xfrm>
        </p:grpSpPr>
        <p:sp>
          <p:nvSpPr>
            <p:cNvPr id="9" name="Google Shape;96;p2">
              <a:extLst>
                <a:ext uri="{FF2B5EF4-FFF2-40B4-BE49-F238E27FC236}">
                  <a16:creationId xmlns:a16="http://schemas.microsoft.com/office/drawing/2014/main" id="{09A2A1B6-1399-F420-E014-EC3467456E9D}"/>
                </a:ext>
              </a:extLst>
            </p:cNvPr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97;p2">
              <a:extLst>
                <a:ext uri="{FF2B5EF4-FFF2-40B4-BE49-F238E27FC236}">
                  <a16:creationId xmlns:a16="http://schemas.microsoft.com/office/drawing/2014/main" id="{3581A57B-7873-7417-2146-4F5BF7EF811A}"/>
                </a:ext>
              </a:extLst>
            </p:cNvPr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98;p2">
              <a:extLst>
                <a:ext uri="{FF2B5EF4-FFF2-40B4-BE49-F238E27FC236}">
                  <a16:creationId xmlns:a16="http://schemas.microsoft.com/office/drawing/2014/main" id="{91E93934-DF4B-6FBA-E81A-E4119FEA5939}"/>
                </a:ext>
              </a:extLst>
            </p:cNvPr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99;p2">
              <a:extLst>
                <a:ext uri="{FF2B5EF4-FFF2-40B4-BE49-F238E27FC236}">
                  <a16:creationId xmlns:a16="http://schemas.microsoft.com/office/drawing/2014/main" id="{BD693745-8389-4EC0-C526-9F395B0580D3}"/>
                </a:ext>
              </a:extLst>
            </p:cNvPr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" name="Google Shape;231;p9">
            <a:extLst>
              <a:ext uri="{FF2B5EF4-FFF2-40B4-BE49-F238E27FC236}">
                <a16:creationId xmlns:a16="http://schemas.microsoft.com/office/drawing/2014/main" id="{3E20FDF3-4854-100A-AB71-525DD6602E3E}"/>
              </a:ext>
            </a:extLst>
          </p:cNvPr>
          <p:cNvGrpSpPr/>
          <p:nvPr/>
        </p:nvGrpSpPr>
        <p:grpSpPr>
          <a:xfrm rot="9030725" flipH="1">
            <a:off x="392328" y="3617958"/>
            <a:ext cx="7664808" cy="5901648"/>
            <a:chOff x="-305" y="-4155"/>
            <a:chExt cx="2514948" cy="2174333"/>
          </a:xfrm>
        </p:grpSpPr>
        <p:sp>
          <p:nvSpPr>
            <p:cNvPr id="14" name="Google Shape;232;p9">
              <a:extLst>
                <a:ext uri="{FF2B5EF4-FFF2-40B4-BE49-F238E27FC236}">
                  <a16:creationId xmlns:a16="http://schemas.microsoft.com/office/drawing/2014/main" id="{93874E77-C237-30A6-2B8A-25A03505ADEE}"/>
                </a:ext>
              </a:extLst>
            </p:cNvPr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33;p9">
              <a:extLst>
                <a:ext uri="{FF2B5EF4-FFF2-40B4-BE49-F238E27FC236}">
                  <a16:creationId xmlns:a16="http://schemas.microsoft.com/office/drawing/2014/main" id="{82D2E98E-989C-3F5E-5F5F-2D46336D1D06}"/>
                </a:ext>
              </a:extLst>
            </p:cNvPr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234;p9">
              <a:extLst>
                <a:ext uri="{FF2B5EF4-FFF2-40B4-BE49-F238E27FC236}">
                  <a16:creationId xmlns:a16="http://schemas.microsoft.com/office/drawing/2014/main" id="{5A79D372-EB5F-F291-D53B-174ECA4C19A1}"/>
                </a:ext>
              </a:extLst>
            </p:cNvPr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235;p9">
              <a:extLst>
                <a:ext uri="{FF2B5EF4-FFF2-40B4-BE49-F238E27FC236}">
                  <a16:creationId xmlns:a16="http://schemas.microsoft.com/office/drawing/2014/main" id="{85B87A33-592E-5F60-138F-85BFE93BB315}"/>
                </a:ext>
              </a:extLst>
            </p:cNvPr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862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57;p5">
            <a:extLst>
              <a:ext uri="{FF2B5EF4-FFF2-40B4-BE49-F238E27FC236}">
                <a16:creationId xmlns:a16="http://schemas.microsoft.com/office/drawing/2014/main" id="{63AFC542-22A1-CAE4-38AA-DA7420145552}"/>
              </a:ext>
            </a:extLst>
          </p:cNvPr>
          <p:cNvGrpSpPr/>
          <p:nvPr/>
        </p:nvGrpSpPr>
        <p:grpSpPr>
          <a:xfrm rot="-1465533" flipH="1">
            <a:off x="2013797" y="-1797095"/>
            <a:ext cx="8164403" cy="3914144"/>
            <a:chOff x="-305" y="-4155"/>
            <a:chExt cx="2514948" cy="2174333"/>
          </a:xfrm>
        </p:grpSpPr>
        <p:sp>
          <p:nvSpPr>
            <p:cNvPr id="11" name="Google Shape;158;p5">
              <a:extLst>
                <a:ext uri="{FF2B5EF4-FFF2-40B4-BE49-F238E27FC236}">
                  <a16:creationId xmlns:a16="http://schemas.microsoft.com/office/drawing/2014/main" id="{F0EDCBBF-A992-C5CF-0ED0-939839DA1951}"/>
                </a:ext>
              </a:extLst>
            </p:cNvPr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59;p5">
              <a:extLst>
                <a:ext uri="{FF2B5EF4-FFF2-40B4-BE49-F238E27FC236}">
                  <a16:creationId xmlns:a16="http://schemas.microsoft.com/office/drawing/2014/main" id="{1C787835-41BA-3266-AFC5-CC1235D6C679}"/>
                </a:ext>
              </a:extLst>
            </p:cNvPr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60;p5">
              <a:extLst>
                <a:ext uri="{FF2B5EF4-FFF2-40B4-BE49-F238E27FC236}">
                  <a16:creationId xmlns:a16="http://schemas.microsoft.com/office/drawing/2014/main" id="{F2D9474C-7AE4-CE2F-B5F0-781D04C44B36}"/>
                </a:ext>
              </a:extLst>
            </p:cNvPr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61;p5">
              <a:extLst>
                <a:ext uri="{FF2B5EF4-FFF2-40B4-BE49-F238E27FC236}">
                  <a16:creationId xmlns:a16="http://schemas.microsoft.com/office/drawing/2014/main" id="{C1E62FA9-8A8A-57D4-E024-8F2D3FF19522}"/>
                </a:ext>
              </a:extLst>
            </p:cNvPr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" name="Google Shape;124;p3">
            <a:extLst>
              <a:ext uri="{FF2B5EF4-FFF2-40B4-BE49-F238E27FC236}">
                <a16:creationId xmlns:a16="http://schemas.microsoft.com/office/drawing/2014/main" id="{AEB15B94-1634-A64C-7343-FB8306FBC070}"/>
              </a:ext>
            </a:extLst>
          </p:cNvPr>
          <p:cNvGrpSpPr/>
          <p:nvPr/>
        </p:nvGrpSpPr>
        <p:grpSpPr>
          <a:xfrm rot="10800000" flipH="1">
            <a:off x="-216660" y="3984715"/>
            <a:ext cx="4707228" cy="3122777"/>
            <a:chOff x="-305" y="-4155"/>
            <a:chExt cx="2514948" cy="2174333"/>
          </a:xfrm>
        </p:grpSpPr>
        <p:sp>
          <p:nvSpPr>
            <p:cNvPr id="6" name="Google Shape;125;p3">
              <a:extLst>
                <a:ext uri="{FF2B5EF4-FFF2-40B4-BE49-F238E27FC236}">
                  <a16:creationId xmlns:a16="http://schemas.microsoft.com/office/drawing/2014/main" id="{1F068F1A-3FFD-D251-F689-799D8F0B574F}"/>
                </a:ext>
              </a:extLst>
            </p:cNvPr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6;p3">
              <a:extLst>
                <a:ext uri="{FF2B5EF4-FFF2-40B4-BE49-F238E27FC236}">
                  <a16:creationId xmlns:a16="http://schemas.microsoft.com/office/drawing/2014/main" id="{BBB1B6FE-EDFD-6916-B51B-042D228578F9}"/>
                </a:ext>
              </a:extLst>
            </p:cNvPr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27;p3">
              <a:extLst>
                <a:ext uri="{FF2B5EF4-FFF2-40B4-BE49-F238E27FC236}">
                  <a16:creationId xmlns:a16="http://schemas.microsoft.com/office/drawing/2014/main" id="{853C3D7E-715B-BE2E-46D9-F6883084D68C}"/>
                </a:ext>
              </a:extLst>
            </p:cNvPr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28;p3">
              <a:extLst>
                <a:ext uri="{FF2B5EF4-FFF2-40B4-BE49-F238E27FC236}">
                  <a16:creationId xmlns:a16="http://schemas.microsoft.com/office/drawing/2014/main" id="{A337B218-6F01-2418-7F9A-BFB21BCC5D39}"/>
                </a:ext>
              </a:extLst>
            </p:cNvPr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ABA812-6725-441F-1A6B-5272FFF57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651" y="767343"/>
            <a:ext cx="11155680" cy="1463040"/>
          </a:xfrm>
        </p:spPr>
        <p:txBody>
          <a:bodyPr/>
          <a:lstStyle/>
          <a:p>
            <a:r>
              <a:rPr lang="ca-ES" noProof="0" dirty="0" err="1"/>
              <a:t>Stromal</a:t>
            </a:r>
            <a:r>
              <a:rPr lang="ca-ES" noProof="0" dirty="0"/>
              <a:t> cell-</a:t>
            </a:r>
            <a:r>
              <a:rPr lang="ca-ES" noProof="0" dirty="0" err="1"/>
              <a:t>derived</a:t>
            </a:r>
            <a:r>
              <a:rPr lang="ca-ES" noProof="0" dirty="0"/>
              <a:t> factor 1 (SDF-1)</a:t>
            </a:r>
            <a:br>
              <a:rPr lang="ca-ES" noProof="0" dirty="0"/>
            </a:br>
            <a:endParaRPr lang="ca-ES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0B386B-485C-7F0B-2A76-D8FE163BC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099" y="2618435"/>
            <a:ext cx="4867116" cy="28417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a-ES" sz="2400" b="1" noProof="0" dirty="0"/>
              <a:t>-Expressada pel gen CXCL12 ubicat al cromosoma 10</a:t>
            </a:r>
          </a:p>
          <a:p>
            <a:pPr marL="0" indent="0">
              <a:buNone/>
            </a:pPr>
            <a:endParaRPr lang="ca-ES" sz="2400" b="1" noProof="0" dirty="0"/>
          </a:p>
          <a:p>
            <a:pPr marL="0" indent="0">
              <a:buNone/>
            </a:pPr>
            <a:r>
              <a:rPr lang="ca-ES" sz="2400" b="1" noProof="0" dirty="0"/>
              <a:t>-</a:t>
            </a:r>
            <a:r>
              <a:rPr lang="ca-ES" sz="2400" b="1" dirty="0" err="1"/>
              <a:t>Proteina</a:t>
            </a:r>
            <a:r>
              <a:rPr lang="ca-ES" sz="2400" b="1" dirty="0"/>
              <a:t> petita, d’uns </a:t>
            </a:r>
            <a:r>
              <a:rPr lang="ca-ES" sz="2400" b="1" noProof="0" dirty="0"/>
              <a:t>7,5 </a:t>
            </a:r>
            <a:r>
              <a:rPr lang="ca-ES" sz="2400" b="1" noProof="0" dirty="0" err="1"/>
              <a:t>kDa</a:t>
            </a:r>
            <a:endParaRPr lang="ca-ES" sz="2400" b="1" noProof="0" dirty="0"/>
          </a:p>
          <a:p>
            <a:pPr marL="0" indent="0">
              <a:buNone/>
            </a:pPr>
            <a:endParaRPr lang="ca-ES" sz="2400" b="1" noProof="0" dirty="0"/>
          </a:p>
          <a:p>
            <a:pPr marL="0" indent="0">
              <a:buNone/>
            </a:pPr>
            <a:r>
              <a:rPr lang="ca-ES" sz="2400" b="1" noProof="0" dirty="0"/>
              <a:t>-Regulació del sistema immune i senyalització de cèl·lules mare</a:t>
            </a:r>
          </a:p>
          <a:p>
            <a:pPr marL="0" indent="0">
              <a:buNone/>
            </a:pPr>
            <a:endParaRPr lang="ca-ES" sz="2400" b="1" noProof="0" dirty="0"/>
          </a:p>
          <a:p>
            <a:pPr marL="0" indent="0">
              <a:buNone/>
            </a:pPr>
            <a:endParaRPr lang="ca-ES" sz="2400" b="1" noProof="0" dirty="0"/>
          </a:p>
          <a:p>
            <a:pPr marL="0" indent="0">
              <a:buNone/>
            </a:pPr>
            <a:endParaRPr lang="ca-ES" sz="2400" b="1" noProof="0" dirty="0"/>
          </a:p>
          <a:p>
            <a:pPr marL="0" indent="0">
              <a:buNone/>
            </a:pPr>
            <a:endParaRPr lang="ca-ES" sz="2400" b="1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2E0E3C-DA3C-12CA-5696-0A03A00CD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71872"/>
            <a:ext cx="4875020" cy="433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966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231;p9">
            <a:extLst>
              <a:ext uri="{FF2B5EF4-FFF2-40B4-BE49-F238E27FC236}">
                <a16:creationId xmlns:a16="http://schemas.microsoft.com/office/drawing/2014/main" id="{3B3A517E-206D-E54B-0766-B5408AD6B250}"/>
              </a:ext>
            </a:extLst>
          </p:cNvPr>
          <p:cNvGrpSpPr/>
          <p:nvPr/>
        </p:nvGrpSpPr>
        <p:grpSpPr>
          <a:xfrm rot="9030725" flipH="1">
            <a:off x="392328" y="3617958"/>
            <a:ext cx="7664808" cy="5901648"/>
            <a:chOff x="-305" y="-4155"/>
            <a:chExt cx="2514948" cy="2174333"/>
          </a:xfrm>
        </p:grpSpPr>
        <p:sp>
          <p:nvSpPr>
            <p:cNvPr id="14" name="Google Shape;232;p9">
              <a:extLst>
                <a:ext uri="{FF2B5EF4-FFF2-40B4-BE49-F238E27FC236}">
                  <a16:creationId xmlns:a16="http://schemas.microsoft.com/office/drawing/2014/main" id="{15885D10-6762-E123-DF94-19EF35D65B31}"/>
                </a:ext>
              </a:extLst>
            </p:cNvPr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33;p9">
              <a:extLst>
                <a:ext uri="{FF2B5EF4-FFF2-40B4-BE49-F238E27FC236}">
                  <a16:creationId xmlns:a16="http://schemas.microsoft.com/office/drawing/2014/main" id="{8E57A1E0-356B-C439-DE20-407C421EC73A}"/>
                </a:ext>
              </a:extLst>
            </p:cNvPr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234;p9">
              <a:extLst>
                <a:ext uri="{FF2B5EF4-FFF2-40B4-BE49-F238E27FC236}">
                  <a16:creationId xmlns:a16="http://schemas.microsoft.com/office/drawing/2014/main" id="{48D316BD-2916-1138-F470-037EE5C83B83}"/>
                </a:ext>
              </a:extLst>
            </p:cNvPr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235;p9">
              <a:extLst>
                <a:ext uri="{FF2B5EF4-FFF2-40B4-BE49-F238E27FC236}">
                  <a16:creationId xmlns:a16="http://schemas.microsoft.com/office/drawing/2014/main" id="{16F6FC73-E867-8914-2265-9049C39E4149}"/>
                </a:ext>
              </a:extLst>
            </p:cNvPr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F832C904-66B8-543D-2154-A3FC4ADF1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20"/>
          <a:stretch>
            <a:fillRect/>
          </a:stretch>
        </p:blipFill>
        <p:spPr>
          <a:xfrm>
            <a:off x="4766474" y="2341266"/>
            <a:ext cx="3689598" cy="298908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E07292-40D4-7F74-2946-DF544E195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noProof="0" dirty="0"/>
              <a:t>Solvatació de la proteïna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1FFFDE-3A99-4651-D662-B07A85CC1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003859"/>
            <a:ext cx="4892631" cy="4258056"/>
          </a:xfrm>
        </p:spPr>
        <p:txBody>
          <a:bodyPr>
            <a:normAutofit/>
          </a:bodyPr>
          <a:lstStyle/>
          <a:p>
            <a:r>
              <a:rPr lang="ca-ES" sz="2400" b="1" dirty="0"/>
              <a:t>La proteïna s’ha solvatat en una gota d aigua</a:t>
            </a:r>
            <a:endParaRPr lang="ca-ES" sz="2400" b="1" noProof="0" dirty="0"/>
          </a:p>
          <a:p>
            <a:endParaRPr lang="ca-ES" sz="2400" b="1" dirty="0"/>
          </a:p>
          <a:p>
            <a:r>
              <a:rPr lang="ca-ES" sz="2400" b="1" noProof="0" dirty="0"/>
              <a:t>S’han afegit contraions de </a:t>
            </a:r>
            <a:r>
              <a:rPr lang="ca-ES" sz="2400" b="1" noProof="0" dirty="0" err="1"/>
              <a:t>NaCl</a:t>
            </a:r>
            <a:r>
              <a:rPr lang="ca-ES" sz="2400" b="1" noProof="0" dirty="0"/>
              <a:t> per contrarestar la càrrega elèctrica (càrrega total +8 a 0).</a:t>
            </a:r>
          </a:p>
          <a:p>
            <a:endParaRPr lang="ca-ES" sz="2400" b="1" dirty="0"/>
          </a:p>
          <a:p>
            <a:r>
              <a:rPr lang="ca-ES" sz="2400" b="1" noProof="0" dirty="0"/>
              <a:t>Posteriorment s’ha optimitzat la geometria del sistema</a:t>
            </a:r>
          </a:p>
          <a:p>
            <a:endParaRPr lang="ca-ES" sz="2400" b="1" dirty="0"/>
          </a:p>
          <a:p>
            <a:pPr marL="0" indent="0">
              <a:buNone/>
            </a:pPr>
            <a:endParaRPr lang="ca-ES" sz="2400" b="1" dirty="0"/>
          </a:p>
          <a:p>
            <a:endParaRPr lang="ca-ES" sz="2400" b="1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28B7A1F-229B-CED0-A128-D5318576F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214" y="1937869"/>
            <a:ext cx="4008532" cy="4014216"/>
          </a:xfrm>
          <a:prstGeom prst="rect">
            <a:avLst/>
          </a:prstGeom>
        </p:spPr>
      </p:pic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7333F72F-E140-042C-E989-157A803516E4}"/>
              </a:ext>
            </a:extLst>
          </p:cNvPr>
          <p:cNvSpPr/>
          <p:nvPr/>
        </p:nvSpPr>
        <p:spPr>
          <a:xfrm>
            <a:off x="7887956" y="3804306"/>
            <a:ext cx="693336" cy="6571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" name="Google Shape;95;p2">
            <a:extLst>
              <a:ext uri="{FF2B5EF4-FFF2-40B4-BE49-F238E27FC236}">
                <a16:creationId xmlns:a16="http://schemas.microsoft.com/office/drawing/2014/main" id="{B6A879D4-4AB8-9A81-1E19-39514E057741}"/>
              </a:ext>
            </a:extLst>
          </p:cNvPr>
          <p:cNvGrpSpPr/>
          <p:nvPr/>
        </p:nvGrpSpPr>
        <p:grpSpPr>
          <a:xfrm flipH="1">
            <a:off x="9676747" y="-4155"/>
            <a:ext cx="2514948" cy="2174333"/>
            <a:chOff x="-305" y="-4155"/>
            <a:chExt cx="2514948" cy="2174333"/>
          </a:xfrm>
        </p:grpSpPr>
        <p:sp>
          <p:nvSpPr>
            <p:cNvPr id="9" name="Google Shape;96;p2">
              <a:extLst>
                <a:ext uri="{FF2B5EF4-FFF2-40B4-BE49-F238E27FC236}">
                  <a16:creationId xmlns:a16="http://schemas.microsoft.com/office/drawing/2014/main" id="{EB9498B5-DE75-C4CC-F070-EDDC68566116}"/>
                </a:ext>
              </a:extLst>
            </p:cNvPr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97;p2">
              <a:extLst>
                <a:ext uri="{FF2B5EF4-FFF2-40B4-BE49-F238E27FC236}">
                  <a16:creationId xmlns:a16="http://schemas.microsoft.com/office/drawing/2014/main" id="{B0614AD9-1DB7-6E76-95E6-E066D1A8DF3A}"/>
                </a:ext>
              </a:extLst>
            </p:cNvPr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98;p2">
              <a:extLst>
                <a:ext uri="{FF2B5EF4-FFF2-40B4-BE49-F238E27FC236}">
                  <a16:creationId xmlns:a16="http://schemas.microsoft.com/office/drawing/2014/main" id="{24176A5E-9E15-1216-C18E-6927E7442F02}"/>
                </a:ext>
              </a:extLst>
            </p:cNvPr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99;p2">
              <a:extLst>
                <a:ext uri="{FF2B5EF4-FFF2-40B4-BE49-F238E27FC236}">
                  <a16:creationId xmlns:a16="http://schemas.microsoft.com/office/drawing/2014/main" id="{42F43D63-3C1B-D9CA-4141-415EF89D0DA7}"/>
                </a:ext>
              </a:extLst>
            </p:cNvPr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2531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231;p9">
            <a:extLst>
              <a:ext uri="{FF2B5EF4-FFF2-40B4-BE49-F238E27FC236}">
                <a16:creationId xmlns:a16="http://schemas.microsoft.com/office/drawing/2014/main" id="{01350505-9CF2-766E-6858-9622DB93FBD4}"/>
              </a:ext>
            </a:extLst>
          </p:cNvPr>
          <p:cNvGrpSpPr/>
          <p:nvPr/>
        </p:nvGrpSpPr>
        <p:grpSpPr>
          <a:xfrm rot="9030725" flipH="1">
            <a:off x="392328" y="3617958"/>
            <a:ext cx="7664808" cy="5901648"/>
            <a:chOff x="-305" y="-4155"/>
            <a:chExt cx="2514948" cy="2174333"/>
          </a:xfrm>
        </p:grpSpPr>
        <p:sp>
          <p:nvSpPr>
            <p:cNvPr id="19" name="Google Shape;232;p9">
              <a:extLst>
                <a:ext uri="{FF2B5EF4-FFF2-40B4-BE49-F238E27FC236}">
                  <a16:creationId xmlns:a16="http://schemas.microsoft.com/office/drawing/2014/main" id="{F2E571CF-EE61-7545-0A86-A83C63DFBBE9}"/>
                </a:ext>
              </a:extLst>
            </p:cNvPr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33;p9">
              <a:extLst>
                <a:ext uri="{FF2B5EF4-FFF2-40B4-BE49-F238E27FC236}">
                  <a16:creationId xmlns:a16="http://schemas.microsoft.com/office/drawing/2014/main" id="{E9DB384A-1E64-9A2C-9D13-7EDD72719482}"/>
                </a:ext>
              </a:extLst>
            </p:cNvPr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34;p9">
              <a:extLst>
                <a:ext uri="{FF2B5EF4-FFF2-40B4-BE49-F238E27FC236}">
                  <a16:creationId xmlns:a16="http://schemas.microsoft.com/office/drawing/2014/main" id="{2BCB38A6-EA23-548F-2339-3C6ACDCF3C25}"/>
                </a:ext>
              </a:extLst>
            </p:cNvPr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35;p9">
              <a:extLst>
                <a:ext uri="{FF2B5EF4-FFF2-40B4-BE49-F238E27FC236}">
                  <a16:creationId xmlns:a16="http://schemas.microsoft.com/office/drawing/2014/main" id="{041BDFA0-7658-3E94-85F5-5AC5AC0D3305}"/>
                </a:ext>
              </a:extLst>
            </p:cNvPr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AFC6E55-84F6-C868-D2B2-76467490DBF8}"/>
              </a:ext>
            </a:extLst>
          </p:cNvPr>
          <p:cNvSpPr/>
          <p:nvPr/>
        </p:nvSpPr>
        <p:spPr>
          <a:xfrm>
            <a:off x="5525728" y="5577660"/>
            <a:ext cx="2084439" cy="4031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D488D97-CF16-E986-0024-BBE3454F3D8C}"/>
              </a:ext>
            </a:extLst>
          </p:cNvPr>
          <p:cNvSpPr/>
          <p:nvPr/>
        </p:nvSpPr>
        <p:spPr>
          <a:xfrm>
            <a:off x="1455174" y="5594555"/>
            <a:ext cx="2084439" cy="4031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50FC85-091C-2FB0-A927-7757592B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noProof="0" dirty="0"/>
              <a:t>Optimització energètica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C87548D-C264-BF70-115A-9F83375BDF87}"/>
              </a:ext>
            </a:extLst>
          </p:cNvPr>
          <p:cNvGrpSpPr/>
          <p:nvPr/>
        </p:nvGrpSpPr>
        <p:grpSpPr>
          <a:xfrm>
            <a:off x="443487" y="1956620"/>
            <a:ext cx="7703903" cy="3491557"/>
            <a:chOff x="-114198" y="-56302"/>
            <a:chExt cx="6393374" cy="2155613"/>
          </a:xfrm>
          <a:effectLst/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B65716D-6678-1325-D14B-883F2D420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-114198" y="-56301"/>
              <a:ext cx="3199478" cy="215561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AE3D06ED-2805-DCBE-857C-48C102566D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18"/>
            <a:stretch>
              <a:fillRect/>
            </a:stretch>
          </p:blipFill>
          <p:spPr bwMode="auto">
            <a:xfrm>
              <a:off x="3132422" y="-56302"/>
              <a:ext cx="3146754" cy="215561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7130CFBC-B741-0BF8-C887-CE12CA960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8756" y="1411715"/>
            <a:ext cx="3529498" cy="4585962"/>
          </a:xfrm>
        </p:spPr>
        <p:txBody>
          <a:bodyPr>
            <a:normAutofit lnSpcReduction="10000"/>
          </a:bodyPr>
          <a:lstStyle/>
          <a:p>
            <a:r>
              <a:rPr lang="es-ES" sz="2400" b="1" dirty="0" err="1"/>
              <a:t>Energia</a:t>
            </a:r>
            <a:r>
              <a:rPr lang="es-ES" sz="2400" b="1" dirty="0"/>
              <a:t> potencial </a:t>
            </a:r>
            <a:r>
              <a:rPr lang="es-ES" sz="2400" b="1" dirty="0" err="1"/>
              <a:t>decreix</a:t>
            </a:r>
            <a:r>
              <a:rPr lang="es-ES" sz="2400" b="1" dirty="0"/>
              <a:t> </a:t>
            </a:r>
            <a:r>
              <a:rPr lang="es-ES" sz="2400" b="1" dirty="0" err="1"/>
              <a:t>ràpidament</a:t>
            </a:r>
            <a:r>
              <a:rPr lang="es-ES" sz="2400" b="1" dirty="0"/>
              <a:t> i </a:t>
            </a:r>
            <a:r>
              <a:rPr lang="es-ES" sz="2400" b="1" dirty="0" err="1"/>
              <a:t>posteriorment</a:t>
            </a:r>
            <a:r>
              <a:rPr lang="es-ES" sz="2400" b="1" dirty="0"/>
              <a:t> </a:t>
            </a:r>
            <a:r>
              <a:rPr lang="es-ES" sz="2400" b="1" dirty="0" err="1"/>
              <a:t>s’estabilitza</a:t>
            </a:r>
            <a:r>
              <a:rPr lang="es-ES" sz="2400" b="1" dirty="0"/>
              <a:t>.</a:t>
            </a:r>
          </a:p>
          <a:p>
            <a:endParaRPr lang="es-ES" sz="2400" b="1" dirty="0"/>
          </a:p>
          <a:p>
            <a:r>
              <a:rPr lang="es-ES" sz="2400" b="1" dirty="0"/>
              <a:t>Hi ha </a:t>
            </a:r>
            <a:r>
              <a:rPr lang="es-ES" sz="2400" b="1" dirty="0" err="1"/>
              <a:t>conservació</a:t>
            </a:r>
            <a:r>
              <a:rPr lang="es-ES" sz="2400" b="1" dirty="0"/>
              <a:t> de </a:t>
            </a:r>
            <a:r>
              <a:rPr lang="es-ES" sz="2400" b="1" dirty="0" err="1"/>
              <a:t>l’energía</a:t>
            </a:r>
            <a:r>
              <a:rPr lang="es-ES" sz="2400" b="1" dirty="0"/>
              <a:t>.</a:t>
            </a:r>
          </a:p>
          <a:p>
            <a:endParaRPr lang="es-ES" sz="2400" b="1" dirty="0"/>
          </a:p>
          <a:p>
            <a:r>
              <a:rPr lang="es-ES" sz="2400" b="1" dirty="0"/>
              <a:t>Temperatura estable a </a:t>
            </a:r>
            <a:r>
              <a:rPr lang="es-ES" sz="2400" b="1" dirty="0" err="1"/>
              <a:t>uns</a:t>
            </a:r>
            <a:r>
              <a:rPr lang="es-ES" sz="2400" b="1" dirty="0"/>
              <a:t> 310 K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642D525-B8D4-37E4-E9C3-3121A21E95E0}"/>
              </a:ext>
            </a:extLst>
          </p:cNvPr>
          <p:cNvSpPr txBox="1"/>
          <p:nvPr/>
        </p:nvSpPr>
        <p:spPr>
          <a:xfrm>
            <a:off x="1504335" y="5594555"/>
            <a:ext cx="605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Energia</a:t>
            </a:r>
            <a:r>
              <a:rPr lang="es-ES" b="1" dirty="0"/>
              <a:t> Potencial			           Temperatura</a:t>
            </a:r>
          </a:p>
        </p:txBody>
      </p:sp>
    </p:spTree>
    <p:extLst>
      <p:ext uri="{BB962C8B-B14F-4D97-AF65-F5344CB8AC3E}">
        <p14:creationId xmlns:p14="http://schemas.microsoft.com/office/powerpoint/2010/main" val="513234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124;p3">
            <a:extLst>
              <a:ext uri="{FF2B5EF4-FFF2-40B4-BE49-F238E27FC236}">
                <a16:creationId xmlns:a16="http://schemas.microsoft.com/office/drawing/2014/main" id="{A4EB2CE3-8A69-6E17-0502-2D2692F63644}"/>
              </a:ext>
            </a:extLst>
          </p:cNvPr>
          <p:cNvGrpSpPr/>
          <p:nvPr/>
        </p:nvGrpSpPr>
        <p:grpSpPr>
          <a:xfrm rot="10800000" flipH="1">
            <a:off x="-216660" y="3984715"/>
            <a:ext cx="4707228" cy="3122777"/>
            <a:chOff x="-305" y="-4155"/>
            <a:chExt cx="2514948" cy="2174333"/>
          </a:xfrm>
        </p:grpSpPr>
        <p:sp>
          <p:nvSpPr>
            <p:cNvPr id="8" name="Google Shape;125;p3">
              <a:extLst>
                <a:ext uri="{FF2B5EF4-FFF2-40B4-BE49-F238E27FC236}">
                  <a16:creationId xmlns:a16="http://schemas.microsoft.com/office/drawing/2014/main" id="{60CF14D5-D020-5C00-BCE1-503E657A30E7}"/>
                </a:ext>
              </a:extLst>
            </p:cNvPr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26;p3">
              <a:extLst>
                <a:ext uri="{FF2B5EF4-FFF2-40B4-BE49-F238E27FC236}">
                  <a16:creationId xmlns:a16="http://schemas.microsoft.com/office/drawing/2014/main" id="{D0C31691-B188-A7AD-F3C9-B75B883DB5F1}"/>
                </a:ext>
              </a:extLst>
            </p:cNvPr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27;p3">
              <a:extLst>
                <a:ext uri="{FF2B5EF4-FFF2-40B4-BE49-F238E27FC236}">
                  <a16:creationId xmlns:a16="http://schemas.microsoft.com/office/drawing/2014/main" id="{88D090BF-B7BA-67D0-BADE-AFABBE81E73C}"/>
                </a:ext>
              </a:extLst>
            </p:cNvPr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28;p3">
              <a:extLst>
                <a:ext uri="{FF2B5EF4-FFF2-40B4-BE49-F238E27FC236}">
                  <a16:creationId xmlns:a16="http://schemas.microsoft.com/office/drawing/2014/main" id="{31C860E2-EE07-EF85-D74C-400BA0C8AF0F}"/>
                </a:ext>
              </a:extLst>
            </p:cNvPr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" name="Marcador de contenido 6">
            <a:extLst>
              <a:ext uri="{FF2B5EF4-FFF2-40B4-BE49-F238E27FC236}">
                <a16:creationId xmlns:a16="http://schemas.microsoft.com/office/drawing/2014/main" id="{E36E9697-2EB5-AE71-DFA4-12D1123C8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856" y="2103905"/>
            <a:ext cx="4924701" cy="397724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5CA2AD-2A9B-CE8F-ACC2-2C51B76AB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83" y="2524427"/>
            <a:ext cx="5885678" cy="3792695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-El RMSD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mesura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s'allunya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fragment de la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proteïna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la seva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posició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b="1" dirty="0"/>
          </a:p>
          <a:p>
            <a:pPr marL="0" indent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-Els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extrems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proteïna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vermell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 es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mouen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més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mentre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nucli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central (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blau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 es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manté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més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estable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b="1" dirty="0"/>
          </a:p>
          <a:p>
            <a:pPr marL="0" indent="0">
              <a:buNone/>
            </a:pPr>
            <a:endParaRPr lang="es-ES" sz="2400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F2F8B69-3A9B-DC84-FE6A-1FAE87310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8016" y="776853"/>
            <a:ext cx="7315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RSMD (Root Mean Square </a:t>
            </a:r>
            <a:r>
              <a:rPr lang="es-ES" sz="3600" b="1" dirty="0" err="1"/>
              <a:t>Deviation</a:t>
            </a:r>
            <a:r>
              <a:rPr lang="es-ES" sz="3600" b="1" dirty="0"/>
              <a:t>) </a:t>
            </a:r>
            <a:r>
              <a:rPr lang="es-ES" sz="3600" b="1" dirty="0" err="1"/>
              <a:t>durant</a:t>
            </a:r>
            <a:r>
              <a:rPr lang="es-ES" sz="3600" b="1" dirty="0"/>
              <a:t> </a:t>
            </a:r>
            <a:r>
              <a:rPr lang="es-ES" sz="3600" b="1" dirty="0" err="1"/>
              <a:t>l’optimització</a:t>
            </a:r>
            <a:r>
              <a:rPr lang="es-ES" sz="36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5282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57;p5">
            <a:extLst>
              <a:ext uri="{FF2B5EF4-FFF2-40B4-BE49-F238E27FC236}">
                <a16:creationId xmlns:a16="http://schemas.microsoft.com/office/drawing/2014/main" id="{DA3AFADC-E398-5975-AB4F-19B71439A5BB}"/>
              </a:ext>
            </a:extLst>
          </p:cNvPr>
          <p:cNvGrpSpPr/>
          <p:nvPr/>
        </p:nvGrpSpPr>
        <p:grpSpPr>
          <a:xfrm rot="-1465533" flipH="1">
            <a:off x="2013797" y="-1797095"/>
            <a:ext cx="8164403" cy="3914144"/>
            <a:chOff x="-305" y="-4155"/>
            <a:chExt cx="2514948" cy="2174333"/>
          </a:xfrm>
        </p:grpSpPr>
        <p:sp>
          <p:nvSpPr>
            <p:cNvPr id="15" name="Google Shape;158;p5">
              <a:extLst>
                <a:ext uri="{FF2B5EF4-FFF2-40B4-BE49-F238E27FC236}">
                  <a16:creationId xmlns:a16="http://schemas.microsoft.com/office/drawing/2014/main" id="{62797383-6443-87FD-2735-A68FE64C7192}"/>
                </a:ext>
              </a:extLst>
            </p:cNvPr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59;p5">
              <a:extLst>
                <a:ext uri="{FF2B5EF4-FFF2-40B4-BE49-F238E27FC236}">
                  <a16:creationId xmlns:a16="http://schemas.microsoft.com/office/drawing/2014/main" id="{FC1C48C3-673F-20F9-A39F-D7EC06ED2BBC}"/>
                </a:ext>
              </a:extLst>
            </p:cNvPr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60;p5">
              <a:extLst>
                <a:ext uri="{FF2B5EF4-FFF2-40B4-BE49-F238E27FC236}">
                  <a16:creationId xmlns:a16="http://schemas.microsoft.com/office/drawing/2014/main" id="{AD0A490A-E519-8B13-44CA-23DB220BAC78}"/>
                </a:ext>
              </a:extLst>
            </p:cNvPr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61;p5">
              <a:extLst>
                <a:ext uri="{FF2B5EF4-FFF2-40B4-BE49-F238E27FC236}">
                  <a16:creationId xmlns:a16="http://schemas.microsoft.com/office/drawing/2014/main" id="{58FDC1A7-0B9A-8828-EFBB-A78E6A4B5176}"/>
                </a:ext>
              </a:extLst>
            </p:cNvPr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F73A781-B427-2E85-495E-C3E327E24E6A}"/>
              </a:ext>
            </a:extLst>
          </p:cNvPr>
          <p:cNvSpPr/>
          <p:nvPr/>
        </p:nvSpPr>
        <p:spPr>
          <a:xfrm>
            <a:off x="1331411" y="5604387"/>
            <a:ext cx="3382294" cy="8259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AFEB1A-9715-A28E-65C4-58050798B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499" y="993255"/>
            <a:ext cx="5138435" cy="1463040"/>
          </a:xfrm>
        </p:spPr>
        <p:txBody>
          <a:bodyPr/>
          <a:lstStyle/>
          <a:p>
            <a:r>
              <a:rPr lang="ca-ES" noProof="0" dirty="0" err="1"/>
              <a:t>Difussió</a:t>
            </a:r>
            <a:r>
              <a:rPr lang="ca-ES" noProof="0" dirty="0"/>
              <a:t> tèrmica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051B37-3A0C-31CC-699A-7EC8BD429E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" t="2352" r="3523" b="2669"/>
          <a:stretch>
            <a:fillRect/>
          </a:stretch>
        </p:blipFill>
        <p:spPr bwMode="auto">
          <a:xfrm>
            <a:off x="6248417" y="2032319"/>
            <a:ext cx="5557517" cy="39850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FBB86FA-8434-9F6A-8317-C87603B66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411" y="2194616"/>
            <a:ext cx="3524878" cy="146304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F701DCC-491B-5BAD-C4D0-E59DB203263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87"/>
          <a:stretch>
            <a:fillRect/>
          </a:stretch>
        </p:blipFill>
        <p:spPr bwMode="auto">
          <a:xfrm>
            <a:off x="108898" y="3926023"/>
            <a:ext cx="5827319" cy="12652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8711108-F944-463F-4228-978468F22323}"/>
              </a:ext>
            </a:extLst>
          </p:cNvPr>
          <p:cNvCxnSpPr>
            <a:cxnSpLocks/>
          </p:cNvCxnSpPr>
          <p:nvPr/>
        </p:nvCxnSpPr>
        <p:spPr>
          <a:xfrm>
            <a:off x="6056671" y="668594"/>
            <a:ext cx="0" cy="6189406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E267BF1-4408-F2AA-285F-07A6B0B29B39}"/>
              </a:ext>
            </a:extLst>
          </p:cNvPr>
          <p:cNvSpPr txBox="1"/>
          <p:nvPr/>
        </p:nvSpPr>
        <p:spPr>
          <a:xfrm>
            <a:off x="1473995" y="5749102"/>
            <a:ext cx="3382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Cv</a:t>
            </a:r>
            <a:r>
              <a:rPr lang="ca-E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=9333,38 J/kg*K</a:t>
            </a:r>
            <a:endParaRPr lang="es-ES" sz="2800" b="1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9F94618E-3C6B-7FEB-80E8-75208B3CB85E}"/>
              </a:ext>
            </a:extLst>
          </p:cNvPr>
          <p:cNvSpPr txBox="1">
            <a:spLocks/>
          </p:cNvSpPr>
          <p:nvPr/>
        </p:nvSpPr>
        <p:spPr>
          <a:xfrm>
            <a:off x="918236" y="911140"/>
            <a:ext cx="5138435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a-ES" dirty="0"/>
              <a:t>Calor específic</a:t>
            </a:r>
          </a:p>
        </p:txBody>
      </p:sp>
    </p:spTree>
    <p:extLst>
      <p:ext uri="{BB962C8B-B14F-4D97-AF65-F5344CB8AC3E}">
        <p14:creationId xmlns:p14="http://schemas.microsoft.com/office/powerpoint/2010/main" val="1403259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124;p3">
            <a:extLst>
              <a:ext uri="{FF2B5EF4-FFF2-40B4-BE49-F238E27FC236}">
                <a16:creationId xmlns:a16="http://schemas.microsoft.com/office/drawing/2014/main" id="{EBA0AA70-8F16-432B-81B4-EC4183725BC6}"/>
              </a:ext>
            </a:extLst>
          </p:cNvPr>
          <p:cNvGrpSpPr/>
          <p:nvPr/>
        </p:nvGrpSpPr>
        <p:grpSpPr>
          <a:xfrm rot="10800000" flipH="1">
            <a:off x="-216660" y="3984715"/>
            <a:ext cx="4707228" cy="3122777"/>
            <a:chOff x="-305" y="-4155"/>
            <a:chExt cx="2514948" cy="2174333"/>
          </a:xfrm>
        </p:grpSpPr>
        <p:sp>
          <p:nvSpPr>
            <p:cNvPr id="6" name="Google Shape;125;p3">
              <a:extLst>
                <a:ext uri="{FF2B5EF4-FFF2-40B4-BE49-F238E27FC236}">
                  <a16:creationId xmlns:a16="http://schemas.microsoft.com/office/drawing/2014/main" id="{9DF54859-BBB1-FB99-33E3-5B6521036090}"/>
                </a:ext>
              </a:extLst>
            </p:cNvPr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6;p3">
              <a:extLst>
                <a:ext uri="{FF2B5EF4-FFF2-40B4-BE49-F238E27FC236}">
                  <a16:creationId xmlns:a16="http://schemas.microsoft.com/office/drawing/2014/main" id="{C6C99772-D25F-B38A-4D69-B879E1F3966F}"/>
                </a:ext>
              </a:extLst>
            </p:cNvPr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27;p3">
              <a:extLst>
                <a:ext uri="{FF2B5EF4-FFF2-40B4-BE49-F238E27FC236}">
                  <a16:creationId xmlns:a16="http://schemas.microsoft.com/office/drawing/2014/main" id="{FC3558D3-7E66-3333-49B0-FC7B09C3FF48}"/>
                </a:ext>
              </a:extLst>
            </p:cNvPr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28;p3">
              <a:extLst>
                <a:ext uri="{FF2B5EF4-FFF2-40B4-BE49-F238E27FC236}">
                  <a16:creationId xmlns:a16="http://schemas.microsoft.com/office/drawing/2014/main" id="{02DBCC6B-776D-7D3F-F452-56C65053A283}"/>
                </a:ext>
              </a:extLst>
            </p:cNvPr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5F203BB-F52C-A1D1-F7A9-F1F642709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97128"/>
            <a:ext cx="9466072" cy="1463040"/>
          </a:xfrm>
        </p:spPr>
        <p:txBody>
          <a:bodyPr/>
          <a:lstStyle/>
          <a:p>
            <a:r>
              <a:rPr lang="ca-ES" noProof="0" dirty="0"/>
              <a:t>Distribució d’energies cinètiques dels àtoms.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0F18458-5036-B629-A431-75B0341B3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270" y="1984021"/>
            <a:ext cx="5987747" cy="42248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4D5DF8B-5C1B-6E74-129B-A8D26CD75076}"/>
              </a:ext>
            </a:extLst>
          </p:cNvPr>
          <p:cNvSpPr txBox="1"/>
          <p:nvPr/>
        </p:nvSpPr>
        <p:spPr>
          <a:xfrm>
            <a:off x="663448" y="2997984"/>
            <a:ext cx="40607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Gran frecuencia </a:t>
            </a:r>
            <a:r>
              <a:rPr lang="es-ES" sz="2400" b="1" dirty="0" err="1"/>
              <a:t>d’àtoms</a:t>
            </a:r>
            <a:r>
              <a:rPr lang="es-ES" sz="2400" b="1" dirty="0"/>
              <a:t> de </a:t>
            </a:r>
            <a:r>
              <a:rPr lang="es-ES" sz="2400" b="1" dirty="0" err="1"/>
              <a:t>baixa</a:t>
            </a:r>
            <a:r>
              <a:rPr lang="es-ES" sz="2400" b="1" dirty="0"/>
              <a:t> energía </a:t>
            </a:r>
            <a:r>
              <a:rPr lang="es-ES" sz="2400" b="1" dirty="0" err="1"/>
              <a:t>cinètica</a:t>
            </a:r>
            <a:r>
              <a:rPr lang="es-ES" sz="2400" b="1" dirty="0"/>
              <a:t>.</a:t>
            </a:r>
          </a:p>
          <a:p>
            <a:endParaRPr lang="es-ES" sz="2400" b="1" dirty="0"/>
          </a:p>
          <a:p>
            <a:r>
              <a:rPr lang="es-ES" sz="2400" b="1" dirty="0" err="1"/>
              <a:t>Segueix</a:t>
            </a:r>
            <a:r>
              <a:rPr lang="es-ES" sz="2400" b="1" dirty="0"/>
              <a:t> una </a:t>
            </a:r>
            <a:r>
              <a:rPr lang="es-ES" sz="2400" b="1" dirty="0" err="1"/>
              <a:t>distribució</a:t>
            </a:r>
            <a:r>
              <a:rPr lang="es-ES" sz="2400" b="1" dirty="0"/>
              <a:t> de Maxwell-Boltzmann</a:t>
            </a:r>
          </a:p>
        </p:txBody>
      </p:sp>
    </p:spTree>
    <p:extLst>
      <p:ext uri="{BB962C8B-B14F-4D97-AF65-F5344CB8AC3E}">
        <p14:creationId xmlns:p14="http://schemas.microsoft.com/office/powerpoint/2010/main" val="1312892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231;p9">
            <a:extLst>
              <a:ext uri="{FF2B5EF4-FFF2-40B4-BE49-F238E27FC236}">
                <a16:creationId xmlns:a16="http://schemas.microsoft.com/office/drawing/2014/main" id="{D336F3CA-0288-E021-5670-A803502619ED}"/>
              </a:ext>
            </a:extLst>
          </p:cNvPr>
          <p:cNvGrpSpPr/>
          <p:nvPr/>
        </p:nvGrpSpPr>
        <p:grpSpPr>
          <a:xfrm rot="9030725" flipH="1">
            <a:off x="392328" y="3617958"/>
            <a:ext cx="7664808" cy="5901648"/>
            <a:chOff x="-305" y="-4155"/>
            <a:chExt cx="2514948" cy="2174333"/>
          </a:xfrm>
        </p:grpSpPr>
        <p:sp>
          <p:nvSpPr>
            <p:cNvPr id="11" name="Google Shape;232;p9">
              <a:extLst>
                <a:ext uri="{FF2B5EF4-FFF2-40B4-BE49-F238E27FC236}">
                  <a16:creationId xmlns:a16="http://schemas.microsoft.com/office/drawing/2014/main" id="{31E74292-EEDF-54DA-7447-25B5F339C778}"/>
                </a:ext>
              </a:extLst>
            </p:cNvPr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233;p9">
              <a:extLst>
                <a:ext uri="{FF2B5EF4-FFF2-40B4-BE49-F238E27FC236}">
                  <a16:creationId xmlns:a16="http://schemas.microsoft.com/office/drawing/2014/main" id="{C41B3C45-6630-7486-6D37-0FB1DA2A1BAB}"/>
                </a:ext>
              </a:extLst>
            </p:cNvPr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234;p9">
              <a:extLst>
                <a:ext uri="{FF2B5EF4-FFF2-40B4-BE49-F238E27FC236}">
                  <a16:creationId xmlns:a16="http://schemas.microsoft.com/office/drawing/2014/main" id="{A806210B-CFAE-29E8-BD74-93A428BEA989}"/>
                </a:ext>
              </a:extLst>
            </p:cNvPr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235;p9">
              <a:extLst>
                <a:ext uri="{FF2B5EF4-FFF2-40B4-BE49-F238E27FC236}">
                  <a16:creationId xmlns:a16="http://schemas.microsoft.com/office/drawing/2014/main" id="{15342123-BF0D-E302-0228-27862E9BFABA}"/>
                </a:ext>
              </a:extLst>
            </p:cNvPr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92915F9-EB8C-7160-4B68-20C8564A8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Conclusions</a:t>
            </a:r>
            <a:r>
              <a:rPr lang="es-ES" dirty="0"/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427F6F-EE4E-BA5E-3B92-3F5B20E5D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352466"/>
            <a:ext cx="7606333" cy="3767328"/>
          </a:xfrm>
        </p:spPr>
        <p:txBody>
          <a:bodyPr>
            <a:normAutofit/>
          </a:bodyPr>
          <a:lstStyle/>
          <a:p>
            <a:r>
              <a:rPr lang="es-ES" sz="2400" b="1" dirty="0"/>
              <a:t>Les </a:t>
            </a:r>
            <a:r>
              <a:rPr lang="es-ES" sz="2400" b="1" dirty="0" err="1"/>
              <a:t>simulacions</a:t>
            </a:r>
            <a:r>
              <a:rPr lang="es-ES" sz="2400" b="1" dirty="0"/>
              <a:t> </a:t>
            </a:r>
            <a:r>
              <a:rPr lang="es-ES" sz="2400" b="1" dirty="0" err="1"/>
              <a:t>s’han</a:t>
            </a:r>
            <a:r>
              <a:rPr lang="es-ES" sz="2400" b="1" dirty="0"/>
              <a:t> </a:t>
            </a:r>
            <a:r>
              <a:rPr lang="es-ES" sz="2400" b="1" dirty="0" err="1"/>
              <a:t>dut</a:t>
            </a:r>
            <a:r>
              <a:rPr lang="es-ES" sz="2400" b="1" dirty="0"/>
              <a:t> a </a:t>
            </a:r>
            <a:r>
              <a:rPr lang="es-ES" sz="2400" b="1" dirty="0" err="1"/>
              <a:t>terme</a:t>
            </a:r>
            <a:r>
              <a:rPr lang="es-ES" sz="2400" b="1" dirty="0"/>
              <a:t> </a:t>
            </a:r>
            <a:r>
              <a:rPr lang="es-ES" sz="2400" b="1" dirty="0" err="1"/>
              <a:t>correctament</a:t>
            </a:r>
            <a:r>
              <a:rPr lang="es-ES" sz="2400" b="1" dirty="0"/>
              <a:t> i han </a:t>
            </a:r>
            <a:r>
              <a:rPr lang="es-ES" sz="2400" b="1" dirty="0" err="1"/>
              <a:t>donat</a:t>
            </a:r>
            <a:r>
              <a:rPr lang="es-ES" sz="2400" b="1" dirty="0"/>
              <a:t> </a:t>
            </a:r>
            <a:r>
              <a:rPr lang="es-ES" sz="2400" b="1" dirty="0" err="1"/>
              <a:t>resultats</a:t>
            </a:r>
            <a:r>
              <a:rPr lang="es-ES" sz="2400" b="1" dirty="0"/>
              <a:t> </a:t>
            </a:r>
            <a:r>
              <a:rPr lang="es-ES" sz="2400" b="1" dirty="0" err="1"/>
              <a:t>coherents</a:t>
            </a:r>
            <a:endParaRPr lang="es-ES" sz="2400" b="1" dirty="0"/>
          </a:p>
          <a:p>
            <a:endParaRPr lang="es-ES" sz="2400" b="1" dirty="0"/>
          </a:p>
          <a:p>
            <a:r>
              <a:rPr lang="es-ES" sz="2400" b="1" dirty="0" err="1"/>
              <a:t>S’han</a:t>
            </a:r>
            <a:r>
              <a:rPr lang="es-ES" sz="2400" b="1" dirty="0"/>
              <a:t> </a:t>
            </a:r>
            <a:r>
              <a:rPr lang="es-ES" sz="2400" b="1" dirty="0" err="1"/>
              <a:t>pogut</a:t>
            </a:r>
            <a:r>
              <a:rPr lang="es-ES" sz="2400" b="1" dirty="0"/>
              <a:t> </a:t>
            </a:r>
            <a:r>
              <a:rPr lang="es-ES" sz="2400" b="1" dirty="0" err="1"/>
              <a:t>obtindre</a:t>
            </a:r>
            <a:r>
              <a:rPr lang="es-ES" sz="2400" b="1" dirty="0"/>
              <a:t> les </a:t>
            </a:r>
            <a:r>
              <a:rPr lang="es-ES" sz="2400" b="1" dirty="0" err="1"/>
              <a:t>propietats</a:t>
            </a:r>
            <a:r>
              <a:rPr lang="es-ES" sz="2400" b="1" dirty="0"/>
              <a:t> </a:t>
            </a:r>
            <a:r>
              <a:rPr lang="es-ES" sz="2400" b="1" dirty="0" err="1"/>
              <a:t>termodinàmiques</a:t>
            </a:r>
            <a:r>
              <a:rPr lang="es-ES" sz="2400" b="1" dirty="0"/>
              <a:t> de la quimiocina SDF-1 </a:t>
            </a:r>
            <a:r>
              <a:rPr lang="es-ES" sz="2400" b="1" dirty="0" err="1"/>
              <a:t>fent</a:t>
            </a:r>
            <a:r>
              <a:rPr lang="es-ES" sz="2400" b="1" dirty="0"/>
              <a:t> </a:t>
            </a:r>
            <a:r>
              <a:rPr lang="es-ES" sz="2400" b="1" dirty="0" err="1"/>
              <a:t>simulacions</a:t>
            </a:r>
            <a:r>
              <a:rPr lang="es-ES" sz="2400" b="1" dirty="0"/>
              <a:t>, </a:t>
            </a:r>
            <a:r>
              <a:rPr lang="es-ES" sz="2400" b="1" dirty="0" err="1"/>
              <a:t>sense</a:t>
            </a:r>
            <a:r>
              <a:rPr lang="es-ES" sz="2400" b="1" dirty="0"/>
              <a:t> </a:t>
            </a:r>
            <a:r>
              <a:rPr lang="es-ES" sz="2400" b="1" dirty="0" err="1"/>
              <a:t>necessitat</a:t>
            </a:r>
            <a:r>
              <a:rPr lang="es-ES" sz="2400" b="1" dirty="0"/>
              <a:t> de </a:t>
            </a:r>
            <a:r>
              <a:rPr lang="es-ES" sz="2400" b="1" dirty="0" err="1"/>
              <a:t>fer</a:t>
            </a:r>
            <a:r>
              <a:rPr lang="es-ES" sz="2400" b="1" dirty="0"/>
              <a:t> </a:t>
            </a:r>
            <a:r>
              <a:rPr lang="es-ES" sz="2400" b="1" dirty="0" err="1"/>
              <a:t>experiments</a:t>
            </a:r>
            <a:r>
              <a:rPr lang="es-ES" sz="2400" b="1" dirty="0"/>
              <a:t> complexes.</a:t>
            </a:r>
          </a:p>
        </p:txBody>
      </p:sp>
      <p:pic>
        <p:nvPicPr>
          <p:cNvPr id="4" name="Imagen 3" descr="Smiley - Wikipedia, la enciclopedia libre">
            <a:extLst>
              <a:ext uri="{FF2B5EF4-FFF2-40B4-BE49-F238E27FC236}">
                <a16:creationId xmlns:a16="http://schemas.microsoft.com/office/drawing/2014/main" id="{5FCB4E26-00D5-4E46-190E-1EBB2585C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83" y="1455174"/>
            <a:ext cx="4333567" cy="4333567"/>
          </a:xfrm>
          <a:prstGeom prst="rect">
            <a:avLst/>
          </a:prstGeom>
        </p:spPr>
      </p:pic>
      <p:grpSp>
        <p:nvGrpSpPr>
          <p:cNvPr id="5" name="Google Shape;95;p2">
            <a:extLst>
              <a:ext uri="{FF2B5EF4-FFF2-40B4-BE49-F238E27FC236}">
                <a16:creationId xmlns:a16="http://schemas.microsoft.com/office/drawing/2014/main" id="{C70C318A-A0E0-8E17-06AE-43FEA27EE026}"/>
              </a:ext>
            </a:extLst>
          </p:cNvPr>
          <p:cNvGrpSpPr/>
          <p:nvPr/>
        </p:nvGrpSpPr>
        <p:grpSpPr>
          <a:xfrm flipH="1">
            <a:off x="9676747" y="-4155"/>
            <a:ext cx="2514948" cy="2174333"/>
            <a:chOff x="-305" y="-4155"/>
            <a:chExt cx="2514948" cy="2174333"/>
          </a:xfrm>
        </p:grpSpPr>
        <p:sp>
          <p:nvSpPr>
            <p:cNvPr id="6" name="Google Shape;96;p2">
              <a:extLst>
                <a:ext uri="{FF2B5EF4-FFF2-40B4-BE49-F238E27FC236}">
                  <a16:creationId xmlns:a16="http://schemas.microsoft.com/office/drawing/2014/main" id="{9638D1F9-7FCB-3198-39FE-90F37DC345BF}"/>
                </a:ext>
              </a:extLst>
            </p:cNvPr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97;p2">
              <a:extLst>
                <a:ext uri="{FF2B5EF4-FFF2-40B4-BE49-F238E27FC236}">
                  <a16:creationId xmlns:a16="http://schemas.microsoft.com/office/drawing/2014/main" id="{1AA7AD6D-C5E4-3DBD-3844-8E9065C638C3}"/>
                </a:ext>
              </a:extLst>
            </p:cNvPr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98;p2">
              <a:extLst>
                <a:ext uri="{FF2B5EF4-FFF2-40B4-BE49-F238E27FC236}">
                  <a16:creationId xmlns:a16="http://schemas.microsoft.com/office/drawing/2014/main" id="{FCEBF109-90C7-D244-9391-9D0A604D9E8F}"/>
                </a:ext>
              </a:extLst>
            </p:cNvPr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9;p2">
              <a:extLst>
                <a:ext uri="{FF2B5EF4-FFF2-40B4-BE49-F238E27FC236}">
                  <a16:creationId xmlns:a16="http://schemas.microsoft.com/office/drawing/2014/main" id="{F26056F5-7F7C-AA94-79B3-7357D00195A3}"/>
                </a:ext>
              </a:extLst>
            </p:cNvPr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4346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7E1C4-6184-5EF1-240F-A2EAC0173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92" y="2910741"/>
            <a:ext cx="9776215" cy="1463040"/>
          </a:xfrm>
        </p:spPr>
        <p:txBody>
          <a:bodyPr/>
          <a:lstStyle/>
          <a:p>
            <a:r>
              <a:rPr lang="es-ES" dirty="0" err="1"/>
              <a:t>Moltes</a:t>
            </a:r>
            <a:r>
              <a:rPr lang="es-ES" dirty="0"/>
              <a:t> </a:t>
            </a:r>
            <a:r>
              <a:rPr lang="es-ES" dirty="0" err="1"/>
              <a:t>gràcies</a:t>
            </a:r>
            <a:r>
              <a:rPr lang="es-ES" dirty="0"/>
              <a:t> per la </a:t>
            </a:r>
            <a:r>
              <a:rPr lang="es-ES" dirty="0" err="1"/>
              <a:t>vostra</a:t>
            </a:r>
            <a:r>
              <a:rPr lang="es-ES" dirty="0"/>
              <a:t> </a:t>
            </a:r>
            <a:r>
              <a:rPr lang="es-ES" dirty="0" err="1"/>
              <a:t>atenció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030431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882969f-df25-41ad-a744-7a97ff9d8f1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793671A8EFFC549B6E3143253E2B1AA" ma:contentTypeVersion="13" ma:contentTypeDescription="Crear nuevo documento." ma:contentTypeScope="" ma:versionID="fe7e5f6ef47f2d4ba7121cb2a55cf9a1">
  <xsd:schema xmlns:xsd="http://www.w3.org/2001/XMLSchema" xmlns:xs="http://www.w3.org/2001/XMLSchema" xmlns:p="http://schemas.microsoft.com/office/2006/metadata/properties" xmlns:ns3="3882969f-df25-41ad-a744-7a97ff9d8f10" xmlns:ns4="a20c4c44-ed8d-4cc1-bf1e-a1d079bd4244" targetNamespace="http://schemas.microsoft.com/office/2006/metadata/properties" ma:root="true" ma:fieldsID="eb48d1b027a071ee0f151308372302be" ns3:_="" ns4:_="">
    <xsd:import namespace="3882969f-df25-41ad-a744-7a97ff9d8f10"/>
    <xsd:import namespace="a20c4c44-ed8d-4cc1-bf1e-a1d079bd42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82969f-df25-41ad-a744-7a97ff9d8f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0c4c44-ed8d-4cc1-bf1e-a1d079bd42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A5B446-1540-4848-BDAB-929E6AEB0A16}">
  <ds:schemaRefs>
    <ds:schemaRef ds:uri="http://schemas.openxmlformats.org/package/2006/metadata/core-properties"/>
    <ds:schemaRef ds:uri="3882969f-df25-41ad-a744-7a97ff9d8f10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www.w3.org/XML/1998/namespace"/>
    <ds:schemaRef ds:uri="a20c4c44-ed8d-4cc1-bf1e-a1d079bd4244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E441BBB-4779-42EF-99F2-190805649F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82969f-df25-41ad-a744-7a97ff9d8f10"/>
    <ds:schemaRef ds:uri="a20c4c44-ed8d-4cc1-bf1e-a1d079bd42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1C4575-8F35-48A3-BD41-EE297BB98C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2438</TotalTime>
  <Words>240</Words>
  <Application>Microsoft Office PowerPoint</Application>
  <PresentationFormat>Panorámica</PresentationFormat>
  <Paragraphs>41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Arial</vt:lpstr>
      <vt:lpstr>Bierstadt</vt:lpstr>
      <vt:lpstr>Calibri</vt:lpstr>
      <vt:lpstr>Times New Roman</vt:lpstr>
      <vt:lpstr>GestaltVTI</vt:lpstr>
      <vt:lpstr>Termodinàmica de la quimiocina SDF-1</vt:lpstr>
      <vt:lpstr>Stromal cell-derived factor 1 (SDF-1) </vt:lpstr>
      <vt:lpstr>Solvatació de la proteïna</vt:lpstr>
      <vt:lpstr>Optimització energètica</vt:lpstr>
      <vt:lpstr>RSMD (Root Mean Square Deviation) durant l’optimització.</vt:lpstr>
      <vt:lpstr>Difussió tèrmica</vt:lpstr>
      <vt:lpstr>Distribució d’energies cinètiques dels àtoms.</vt:lpstr>
      <vt:lpstr>Conclusions.</vt:lpstr>
      <vt:lpstr>Moltes gràcies per la vostra atenció.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Rausa De Godos</dc:creator>
  <cp:lastModifiedBy>Eric Rausa De Godos</cp:lastModifiedBy>
  <cp:revision>2</cp:revision>
  <dcterms:created xsi:type="dcterms:W3CDTF">2026-06-30T16:42:01Z</dcterms:created>
  <dcterms:modified xsi:type="dcterms:W3CDTF">2026-07-02T09:32:26Z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0x010100F793671A8EFFC549B6E3143253E2B1AA</vt:lpwstr>
  </property>
</Properties>
</file>